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5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1" r:id="rId16"/>
    <p:sldId id="282" r:id="rId17"/>
    <p:sldId id="283" r:id="rId18"/>
    <p:sldId id="285" r:id="rId19"/>
    <p:sldId id="286" r:id="rId20"/>
    <p:sldId id="287" r:id="rId21"/>
    <p:sldId id="259" r:id="rId22"/>
  </p:sldIdLst>
  <p:sldSz cx="12192000" cy="6858000"/>
  <p:notesSz cx="6858000" cy="9144000"/>
  <p:embeddedFontLst>
    <p:embeddedFont>
      <p:font typeface="Lato Black" panose="020F0502020204030203" pitchFamily="34" charset="0"/>
      <p:bold r:id="rId24"/>
      <p:boldItalic r:id="rId25"/>
    </p:embeddedFont>
    <p:embeddedFont>
      <p:font typeface="Libre Baskerville" panose="02000000000000000000" pitchFamily="2" charset="0"/>
      <p:regular r:id="rId26"/>
      <p:bold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B13F2-AC98-4E08-966C-88445ECABB57}" v="172" dt="2025-12-25T13:03:44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 autoAdjust="0"/>
    <p:restoredTop sz="94660"/>
  </p:normalViewPr>
  <p:slideViewPr>
    <p:cSldViewPr snapToGrid="0">
      <p:cViewPr>
        <p:scale>
          <a:sx n="66" d="100"/>
          <a:sy n="66" d="100"/>
        </p:scale>
        <p:origin x="475" y="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D1D84DC-6E48-CB2B-CAE1-DAEDA409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F1A8206-65C0-26F4-4608-4853C5F81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B4FB961-6FD2-D8F7-8536-2A6D8CBC35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2520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F7F12F7-2848-0888-0916-D07D662C2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08407DE-BCA5-8031-0A63-70D155BDD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8DAE5-42C1-10E8-5470-EF028ACE4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165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CC671FE-DFEA-4EDE-3263-33B153CB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314669A-4335-9C3C-FB8B-9480C2A5A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E36F9E2-F914-08F5-5F1D-1D4FD6FAF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4294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2045FE0-2987-3D40-9FF7-7AB5977D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42BACDC-8CA0-47A9-5558-3D36BA95E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5F666BF-C08D-84B8-A833-EE51CDDDF1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4722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32623AC-97D1-7507-E059-7CA8EFCD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31E5BE9-3261-F86A-BD40-29DCE28A84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C101CCB-5693-530B-A0E6-89F3AFDA02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150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1AC2C8F-7649-CD0D-2A73-44DB7CBE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C5DF83E-9B40-956E-F523-868FFB1B3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E6553ED-3A08-D497-1E85-E6A0BA819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1879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A4A7AFA-D413-DF73-3049-0264D631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6F18998-A6B2-8E64-99A1-C49F5D687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D9448D2-B52B-28ED-89F2-D9AA07DBA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0728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D59D1FE-486E-F121-B078-CF374E93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3D45A7-154F-7366-B579-8C8DF8226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0E01192-A902-8083-B2A8-A9CF6E40A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8766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F980A0A-74EC-664E-001D-11F3F9C7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CD57981F-B433-7810-E0A5-9DFC24432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4052E01-CD34-166C-A638-628D08B6FC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960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561E523-5752-32CA-4D4C-8BCDDA1E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6626EA3-D625-2C6B-1455-D349C441F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F7F7DD9-5194-931D-CF3B-F4571A4CB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579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878CDF6-EF27-5B15-985E-4B99D0DF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2015E92-D9A0-82DE-C900-72442B9B9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62CC446-22CF-BFAA-91AF-2D8D27111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996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AE0EC14-A465-7DC1-54EB-BF2DD767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5CC65E2-D0B9-802C-7189-B3CECDD302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8D2408D-A4E9-51D6-DFB4-3216D5CD0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510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7ABA95E-708E-8C66-092F-479B6738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51619CF-1F01-E6F5-0D88-B29FC0A22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34675E8-B5AB-2C4D-BB42-0ACB5735E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3495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4518406-4CD8-2083-E467-7D9E175D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05F039E-8F86-D110-923B-F92C10662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0884C63-D274-03E4-BA4B-CD656C908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8022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A08CF19-C410-98FC-CFC7-F7FA50F6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E87BB45-23DE-1A89-B3B2-D5855231C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045CEF8-73CC-666B-F79B-7D5228CCD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93835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C7ED4F6-E4F4-B7D3-2D9A-763E0B7C0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51936CB-BCA9-6078-2CF0-FA6DF92A2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C713093-711F-2AD7-B1AD-5BB42E3F2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0382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872128D-DE37-C567-5172-2B26FF72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DE9AE7D-A0AF-E686-E0DA-BC9265C45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933F201-2FFE-F66E-8BC7-8FD8F3A3D4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1514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720C32A-DA3C-5419-6DE1-894C08EE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BFA9BE8-E9CD-0A5F-D3A9-BB0AA449F8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B77A265-1710-694C-3150-2434BED69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9180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1185" y="-399862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938223" y="2085823"/>
            <a:ext cx="8315553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3200" b="1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PROJECT ON</a:t>
            </a:r>
            <a:endParaRPr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764EA9-E3B5-CA38-08B7-17AECC588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26" y="5202039"/>
            <a:ext cx="5848074" cy="100231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Mohammed Ashwaq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A0F020-79A2-9CED-C15F-B7ECB5E7A947}"/>
              </a:ext>
            </a:extLst>
          </p:cNvPr>
          <p:cNvSpPr txBox="1"/>
          <p:nvPr/>
        </p:nvSpPr>
        <p:spPr>
          <a:xfrm>
            <a:off x="1924919" y="3289988"/>
            <a:ext cx="9234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EMPLOYEE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335188" y="416553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Agenda: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0486A-AA39-1EE7-84CA-318194BD2328}"/>
              </a:ext>
            </a:extLst>
          </p:cNvPr>
          <p:cNvSpPr txBox="1"/>
          <p:nvPr/>
        </p:nvSpPr>
        <p:spPr>
          <a:xfrm>
            <a:off x="432079" y="1218521"/>
            <a:ext cx="9244356" cy="4447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b="1" dirty="0"/>
              <a:t>Overview of the Employee Management System Project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b="1" dirty="0"/>
              <a:t>Database Structure: ER Diagram &amp; Schema Walk-Through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b="1" dirty="0"/>
              <a:t>Business Questions &amp; Real-Time Use Case Scenarios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SQL Implementation: Queries, Outputs &amp; Key Findings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b="1" dirty="0"/>
              <a:t>Department, Leave &amp; Payroll Insights Derived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Strategic Observations &amp; Actionable Recommendations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Overall Conclusion &amp; Final Takeaways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b="1" dirty="0"/>
              <a:t>Learning Outcomes &amp; Challenges Faced During the Project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Open Discussion / Q&amp;A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822AF9E-A65C-21BA-7EC1-37487FEA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B35C7A9-20EC-3297-A284-41B1FF7E754E}"/>
              </a:ext>
            </a:extLst>
          </p:cNvPr>
          <p:cNvSpPr txBox="1"/>
          <p:nvPr/>
        </p:nvSpPr>
        <p:spPr>
          <a:xfrm>
            <a:off x="327907" y="659621"/>
            <a:ext cx="854259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b="1" dirty="0"/>
              <a:t>Introduction &amp; Project Overview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: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30C6CC2-A4D8-CAEB-B79A-833BBD70A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08" y="1478210"/>
            <a:ext cx="10529146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developing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Management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efficiently manage    organizational employee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stores and tracks key information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details, job roles, salaries, qualifications, leaves, and payroll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structured relational database is designed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data consistency with foreign keys, constraints, and cascading rules.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provide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centralized, accurate, and insightful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employee data management and reporting system.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queries are used to perform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detailed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support HR decision-making and improve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333148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2757E6D-5546-4F2B-EFA5-C131AA25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8FB4F542-5737-7DDF-A772-11AD730F0313}"/>
              </a:ext>
            </a:extLst>
          </p:cNvPr>
          <p:cNvSpPr txBox="1"/>
          <p:nvPr/>
        </p:nvSpPr>
        <p:spPr>
          <a:xfrm>
            <a:off x="138419" y="94521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Tables :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362274-4BF0-9E62-C1AF-68EA70A5E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15" y="1392049"/>
            <a:ext cx="6637595" cy="218625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C421C2-96E1-0838-CFB9-4B2C5AF98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15" y="4335020"/>
            <a:ext cx="6637595" cy="2308848"/>
          </a:xfrm>
          <a:prstGeom prst="rect">
            <a:avLst/>
          </a:prstGeom>
        </p:spPr>
      </p:pic>
      <p:pic>
        <p:nvPicPr>
          <p:cNvPr id="8" name="Picture 7" descr="A screenshot of a data table&#10;&#10;AI-generated content may be incorrect.">
            <a:extLst>
              <a:ext uri="{FF2B5EF4-FFF2-40B4-BE49-F238E27FC236}">
                <a16:creationId xmlns:a16="http://schemas.microsoft.com/office/drawing/2014/main" id="{3F67629A-3976-26D8-1448-E41BEA7D5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907" y="2905246"/>
            <a:ext cx="4512089" cy="2761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9ECBB8-2CEB-7684-10B0-E1218B4F215F}"/>
              </a:ext>
            </a:extLst>
          </p:cNvPr>
          <p:cNvSpPr txBox="1"/>
          <p:nvPr/>
        </p:nvSpPr>
        <p:spPr>
          <a:xfrm>
            <a:off x="138418" y="856538"/>
            <a:ext cx="2442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1. EMPLOYEE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B86E31-8589-F039-65B1-8297028ED241}"/>
              </a:ext>
            </a:extLst>
          </p:cNvPr>
          <p:cNvSpPr txBox="1"/>
          <p:nvPr/>
        </p:nvSpPr>
        <p:spPr>
          <a:xfrm>
            <a:off x="277315" y="3725831"/>
            <a:ext cx="3715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2. JOB DEPARTMENT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5835EA-5F1E-6317-13AB-A0CCF25DB3A9}"/>
              </a:ext>
            </a:extLst>
          </p:cNvPr>
          <p:cNvSpPr txBox="1"/>
          <p:nvPr/>
        </p:nvSpPr>
        <p:spPr>
          <a:xfrm>
            <a:off x="7525907" y="2087127"/>
            <a:ext cx="2312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3. LEAVES :</a:t>
            </a:r>
          </a:p>
        </p:txBody>
      </p:sp>
    </p:spTree>
    <p:extLst>
      <p:ext uri="{BB962C8B-B14F-4D97-AF65-F5344CB8AC3E}">
        <p14:creationId xmlns:p14="http://schemas.microsoft.com/office/powerpoint/2010/main" val="25970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C498918-8315-3947-3F57-3364DE91B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68F3CB7-2258-1955-D07A-AF3F9E844FDA}"/>
              </a:ext>
            </a:extLst>
          </p:cNvPr>
          <p:cNvSpPr txBox="1"/>
          <p:nvPr/>
        </p:nvSpPr>
        <p:spPr>
          <a:xfrm>
            <a:off x="277315" y="214132"/>
            <a:ext cx="2442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4. PAYROLL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770F6C-9A12-846E-62A7-3EE6E4733ECC}"/>
              </a:ext>
            </a:extLst>
          </p:cNvPr>
          <p:cNvSpPr txBox="1"/>
          <p:nvPr/>
        </p:nvSpPr>
        <p:spPr>
          <a:xfrm>
            <a:off x="277315" y="3684873"/>
            <a:ext cx="3715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5. QUALIFICATION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894673-557A-FADD-6405-D2E425A1FF35}"/>
              </a:ext>
            </a:extLst>
          </p:cNvPr>
          <p:cNvSpPr txBox="1"/>
          <p:nvPr/>
        </p:nvSpPr>
        <p:spPr>
          <a:xfrm>
            <a:off x="7109219" y="2075552"/>
            <a:ext cx="3192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3. SALARY BONUS :</a:t>
            </a:r>
          </a:p>
        </p:txBody>
      </p:sp>
      <p:pic>
        <p:nvPicPr>
          <p:cNvPr id="4" name="Picture 3" descr="A screenshot of a table&#10;&#10;AI-generated content may be incorrect.">
            <a:extLst>
              <a:ext uri="{FF2B5EF4-FFF2-40B4-BE49-F238E27FC236}">
                <a16:creationId xmlns:a16="http://schemas.microsoft.com/office/drawing/2014/main" id="{7E9AB165-876D-BE91-04BC-F4EB0903E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15" y="797513"/>
            <a:ext cx="5903566" cy="2142458"/>
          </a:xfrm>
          <a:prstGeom prst="rect">
            <a:avLst/>
          </a:prstGeom>
        </p:spPr>
      </p:pic>
      <p:pic>
        <p:nvPicPr>
          <p:cNvPr id="7" name="Picture 6" descr="A table of information&#10;&#10;AI-generated content may be incorrect.">
            <a:extLst>
              <a:ext uri="{FF2B5EF4-FFF2-40B4-BE49-F238E27FC236}">
                <a16:creationId xmlns:a16="http://schemas.microsoft.com/office/drawing/2014/main" id="{7DE5C75D-7C77-7E49-D906-2404E88F1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15" y="4317357"/>
            <a:ext cx="5903566" cy="2233914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0893E2-2C9C-97C0-F42C-FD1E10FF3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219" y="2819574"/>
            <a:ext cx="4315720" cy="242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42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D764B0B-62FA-AF15-126C-70E13843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62B471D-86D4-922E-FFD8-5A2AC563A720}"/>
              </a:ext>
            </a:extLst>
          </p:cNvPr>
          <p:cNvSpPr txBox="1"/>
          <p:nvPr/>
        </p:nvSpPr>
        <p:spPr>
          <a:xfrm>
            <a:off x="300464" y="178851"/>
            <a:ext cx="6099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ER DIAGRAM :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9A5734-00C1-DAC4-3CE4-A22A58643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14" y="607539"/>
            <a:ext cx="7832371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5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EA465CB-C46C-8F51-D132-D1A1F5F2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2E126F00-F959-2204-C3A2-90FF4F0146AF}"/>
              </a:ext>
            </a:extLst>
          </p:cNvPr>
          <p:cNvSpPr txBox="1"/>
          <p:nvPr/>
        </p:nvSpPr>
        <p:spPr>
          <a:xfrm>
            <a:off x="196770" y="162046"/>
            <a:ext cx="6237881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2400" b="1" dirty="0"/>
              <a:t>Comprehensive SQL Analysis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:</a:t>
            </a:r>
            <a:endParaRPr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EFDDBC-AA47-7514-5A3E-42FD7A32D5D0}"/>
              </a:ext>
            </a:extLst>
          </p:cNvPr>
          <p:cNvSpPr txBox="1"/>
          <p:nvPr/>
        </p:nvSpPr>
        <p:spPr>
          <a:xfrm>
            <a:off x="196770" y="652170"/>
            <a:ext cx="2963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 1. EMPLOYEE INSIGHTS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4E55C-0F0D-DE2F-3F8E-8B79A20C440B}"/>
              </a:ext>
            </a:extLst>
          </p:cNvPr>
          <p:cNvSpPr txBox="1"/>
          <p:nvPr/>
        </p:nvSpPr>
        <p:spPr>
          <a:xfrm>
            <a:off x="671331" y="1093090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How many unique employees are currently in the system? </a:t>
            </a:r>
            <a:endParaRPr lang="en-IN" b="1" dirty="0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F1050DF-2D28-45B1-0B01-C8F6AD1CE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911" y="1534010"/>
            <a:ext cx="3791597" cy="1250735"/>
          </a:xfrm>
          <a:prstGeom prst="rect">
            <a:avLst/>
          </a:prstGeom>
        </p:spPr>
      </p:pic>
      <p:pic>
        <p:nvPicPr>
          <p:cNvPr id="9" name="Picture 8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EDB8EB43-1778-11D0-8C96-4FB973EE7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86" y="1534010"/>
            <a:ext cx="3158465" cy="10146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963153-AD02-E3AF-31F6-9BFDDDF9DD3A}"/>
              </a:ext>
            </a:extLst>
          </p:cNvPr>
          <p:cNvSpPr txBox="1"/>
          <p:nvPr/>
        </p:nvSpPr>
        <p:spPr>
          <a:xfrm>
            <a:off x="6967960" y="1093089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D507C7-2432-50A4-BFAE-44B76CDABA77}"/>
              </a:ext>
            </a:extLst>
          </p:cNvPr>
          <p:cNvSpPr txBox="1"/>
          <p:nvPr/>
        </p:nvSpPr>
        <p:spPr>
          <a:xfrm>
            <a:off x="671331" y="3412849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B. Which departments have the highest number of employees? 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BCD0F4-4BBF-1632-5144-D12EF69AF22D}"/>
              </a:ext>
            </a:extLst>
          </p:cNvPr>
          <p:cNvSpPr txBox="1"/>
          <p:nvPr/>
        </p:nvSpPr>
        <p:spPr>
          <a:xfrm>
            <a:off x="7075886" y="3412848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pic>
        <p:nvPicPr>
          <p:cNvPr id="15" name="Picture 14" descr="A computer code with text&#10;&#10;AI-generated content may be incorrect.">
            <a:extLst>
              <a:ext uri="{FF2B5EF4-FFF2-40B4-BE49-F238E27FC236}">
                <a16:creationId xmlns:a16="http://schemas.microsoft.com/office/drawing/2014/main" id="{1259B1F9-31BB-F623-029A-385C908DB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911" y="4178734"/>
            <a:ext cx="4511431" cy="2027096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5561C2-C866-0C9D-ECC4-80172032C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886" y="3993226"/>
            <a:ext cx="2507952" cy="207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F648DF2-D5F3-C57E-9F4F-FB914B04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BE58C1-2558-A7FB-3284-12C19EEE7E29}"/>
              </a:ext>
            </a:extLst>
          </p:cNvPr>
          <p:cNvSpPr txBox="1"/>
          <p:nvPr/>
        </p:nvSpPr>
        <p:spPr>
          <a:xfrm>
            <a:off x="671330" y="109242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C. What is the average salary per department? 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4A124-AB42-8E05-22EE-918D6A4CF4EF}"/>
              </a:ext>
            </a:extLst>
          </p:cNvPr>
          <p:cNvSpPr txBox="1"/>
          <p:nvPr/>
        </p:nvSpPr>
        <p:spPr>
          <a:xfrm>
            <a:off x="7075886" y="109241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6A387-7706-C28D-BE34-E9AEC7F19517}"/>
              </a:ext>
            </a:extLst>
          </p:cNvPr>
          <p:cNvSpPr txBox="1"/>
          <p:nvPr/>
        </p:nvSpPr>
        <p:spPr>
          <a:xfrm>
            <a:off x="671331" y="3412849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D. Who are the top 5 highest-paid employees? 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474895-4321-69A3-2E2C-E4E50EC94D55}"/>
              </a:ext>
            </a:extLst>
          </p:cNvPr>
          <p:cNvSpPr txBox="1"/>
          <p:nvPr/>
        </p:nvSpPr>
        <p:spPr>
          <a:xfrm>
            <a:off x="7075886" y="3429000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pic>
        <p:nvPicPr>
          <p:cNvPr id="5" name="Picture 4" descr="A computer code with blue text&#10;&#10;AI-generated content may be incorrect.">
            <a:extLst>
              <a:ext uri="{FF2B5EF4-FFF2-40B4-BE49-F238E27FC236}">
                <a16:creationId xmlns:a16="http://schemas.microsoft.com/office/drawing/2014/main" id="{CFFDEAAA-FFA7-0529-9AEE-831C9F982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95" y="571986"/>
            <a:ext cx="4061812" cy="214902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6F1C71-35B3-C474-C1D0-AC589C0CF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470" y="571986"/>
            <a:ext cx="2469489" cy="2250673"/>
          </a:xfrm>
          <a:prstGeom prst="rect">
            <a:avLst/>
          </a:prstGeom>
        </p:spPr>
      </p:pic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477C84F-AE2D-4304-A6F2-C458585ED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32" y="3904776"/>
            <a:ext cx="4404742" cy="2183507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E24F66-6D30-03CE-AC38-515B47DD6B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1469" y="4045233"/>
            <a:ext cx="3668287" cy="178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8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96B5BEE-9A5D-F6B5-6F3F-A60D672A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E86307-98DC-8071-FFAF-5155B64FDFE2}"/>
              </a:ext>
            </a:extLst>
          </p:cNvPr>
          <p:cNvSpPr txBox="1"/>
          <p:nvPr/>
        </p:nvSpPr>
        <p:spPr>
          <a:xfrm>
            <a:off x="671330" y="109242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E. What is the total salary expenditure across the company? 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7CA41-9FB7-8AC5-B3A3-21FB09C8325E}"/>
              </a:ext>
            </a:extLst>
          </p:cNvPr>
          <p:cNvSpPr txBox="1"/>
          <p:nvPr/>
        </p:nvSpPr>
        <p:spPr>
          <a:xfrm>
            <a:off x="7075886" y="109241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6548F3-A9D7-FDDC-4218-091388731392}"/>
              </a:ext>
            </a:extLst>
          </p:cNvPr>
          <p:cNvSpPr txBox="1"/>
          <p:nvPr/>
        </p:nvSpPr>
        <p:spPr>
          <a:xfrm>
            <a:off x="707786" y="3549727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How many different job roles exist in each department? 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D0836-AA91-094C-7B75-537B98A5A217}"/>
              </a:ext>
            </a:extLst>
          </p:cNvPr>
          <p:cNvSpPr txBox="1"/>
          <p:nvPr/>
        </p:nvSpPr>
        <p:spPr>
          <a:xfrm>
            <a:off x="7180058" y="3549727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AE7E82E-41CB-C4EC-595C-B86A94FD8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632" y="601883"/>
            <a:ext cx="5217845" cy="1736203"/>
          </a:xfrm>
          <a:prstGeom prst="rect">
            <a:avLst/>
          </a:prstGeom>
        </p:spPr>
      </p:pic>
      <p:pic>
        <p:nvPicPr>
          <p:cNvPr id="7" name="Picture 6" descr="A close-up of a number&#10;&#10;AI-generated content may be incorrect.">
            <a:extLst>
              <a:ext uri="{FF2B5EF4-FFF2-40B4-BE49-F238E27FC236}">
                <a16:creationId xmlns:a16="http://schemas.microsoft.com/office/drawing/2014/main" id="{39602E60-779A-6598-DD7C-928A40C77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739" y="601883"/>
            <a:ext cx="3353858" cy="923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D6CC1A-A32F-F66E-08F5-A4F158CC7916}"/>
              </a:ext>
            </a:extLst>
          </p:cNvPr>
          <p:cNvSpPr txBox="1"/>
          <p:nvPr/>
        </p:nvSpPr>
        <p:spPr>
          <a:xfrm>
            <a:off x="326019" y="3036911"/>
            <a:ext cx="5602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2. JOB ROLE AND DEPARTMENT ANALYSIS</a:t>
            </a:r>
            <a:endParaRPr lang="en-IN" sz="1600" b="1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EFB5C9-4864-ABFE-7597-0677CD8B53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632" y="4201043"/>
            <a:ext cx="5254301" cy="1736203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B02CBF-EDE8-5723-F475-9B1F47BF20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9739" y="4101011"/>
            <a:ext cx="2392206" cy="204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05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2FB7DAF-063C-5EFD-EC84-AB70792F4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B5C325-D228-82C0-65FB-BF6088311179}"/>
              </a:ext>
            </a:extLst>
          </p:cNvPr>
          <p:cNvSpPr txBox="1"/>
          <p:nvPr/>
        </p:nvSpPr>
        <p:spPr>
          <a:xfrm>
            <a:off x="671330" y="109242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B. What is the average salary range per department? 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B1B542-54ED-3894-7302-AA80D3FD360E}"/>
              </a:ext>
            </a:extLst>
          </p:cNvPr>
          <p:cNvSpPr txBox="1"/>
          <p:nvPr/>
        </p:nvSpPr>
        <p:spPr>
          <a:xfrm>
            <a:off x="7075886" y="109241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536A7-213D-64BE-C9FF-8EB4E980A620}"/>
              </a:ext>
            </a:extLst>
          </p:cNvPr>
          <p:cNvSpPr txBox="1"/>
          <p:nvPr/>
        </p:nvSpPr>
        <p:spPr>
          <a:xfrm>
            <a:off x="671331" y="3412849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C. Which job roles offer the highest salary?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E81B94-D1DC-50CF-8B6D-33FE37983CE5}"/>
              </a:ext>
            </a:extLst>
          </p:cNvPr>
          <p:cNvSpPr txBox="1"/>
          <p:nvPr/>
        </p:nvSpPr>
        <p:spPr>
          <a:xfrm>
            <a:off x="7075886" y="3429000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92153C2-2558-18E2-E005-554E0ECE5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36" y="712253"/>
            <a:ext cx="4353533" cy="1914792"/>
          </a:xfrm>
          <a:prstGeom prst="rect">
            <a:avLst/>
          </a:prstGeom>
        </p:spPr>
      </p:pic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F0A8B05F-D787-8D77-525B-393E2C6CF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470" y="712253"/>
            <a:ext cx="2600550" cy="2177962"/>
          </a:xfrm>
          <a:prstGeom prst="rect">
            <a:avLst/>
          </a:prstGeom>
        </p:spPr>
      </p:pic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2CD7D6C-100A-0F61-3D31-5488F3F63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435" y="4136846"/>
            <a:ext cx="4716219" cy="1696795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EFEF50-5343-F8C1-2A32-F7E2450B08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1470" y="3764857"/>
            <a:ext cx="3341330" cy="244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87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FF01827-7C12-C030-0F93-4C48A01E0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5E8EC4-F464-8ADB-700C-7CC81A2BFC54}"/>
              </a:ext>
            </a:extLst>
          </p:cNvPr>
          <p:cNvSpPr txBox="1"/>
          <p:nvPr/>
        </p:nvSpPr>
        <p:spPr>
          <a:xfrm>
            <a:off x="671330" y="109242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D. Which departments have the highest total salary allocation?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A3264-01EE-14AD-D688-102725196361}"/>
              </a:ext>
            </a:extLst>
          </p:cNvPr>
          <p:cNvSpPr txBox="1"/>
          <p:nvPr/>
        </p:nvSpPr>
        <p:spPr>
          <a:xfrm>
            <a:off x="7075886" y="109241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99EAD3-B55E-133D-5284-E3E216DA645A}"/>
              </a:ext>
            </a:extLst>
          </p:cNvPr>
          <p:cNvSpPr txBox="1"/>
          <p:nvPr/>
        </p:nvSpPr>
        <p:spPr>
          <a:xfrm>
            <a:off x="671330" y="3367193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How many employees have at least one qualification listed?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8C3724-1C59-9CDF-46A8-35776B33A7D4}"/>
              </a:ext>
            </a:extLst>
          </p:cNvPr>
          <p:cNvSpPr txBox="1"/>
          <p:nvPr/>
        </p:nvSpPr>
        <p:spPr>
          <a:xfrm>
            <a:off x="7075885" y="3367193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8621D55-7507-10BF-835A-3334A9FD0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990" y="599738"/>
            <a:ext cx="4206605" cy="165368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5D2DD7-C1B3-7A36-4792-F900936EB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620" y="599738"/>
            <a:ext cx="2484803" cy="1755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B6DDE8-EABD-7145-2118-9BA83FB4382B}"/>
              </a:ext>
            </a:extLst>
          </p:cNvPr>
          <p:cNvSpPr txBox="1"/>
          <p:nvPr/>
        </p:nvSpPr>
        <p:spPr>
          <a:xfrm>
            <a:off x="289366" y="2847371"/>
            <a:ext cx="4722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3. QUALIFICATION AND SKILLS ANALYSIS </a:t>
            </a:r>
            <a:endParaRPr lang="en-IN" sz="1600" b="1" dirty="0"/>
          </a:p>
        </p:txBody>
      </p:sp>
      <p:pic>
        <p:nvPicPr>
          <p:cNvPr id="17" name="Picture 16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28DAA398-CF48-3075-304A-524102F81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366" y="4046129"/>
            <a:ext cx="6540408" cy="1275288"/>
          </a:xfrm>
          <a:prstGeom prst="rect">
            <a:avLst/>
          </a:prstGeom>
        </p:spPr>
      </p:pic>
      <p:pic>
        <p:nvPicPr>
          <p:cNvPr id="19" name="Picture 18" descr="A close up of a computer screen&#10;&#10;AI-generated content may be incorrect.">
            <a:extLst>
              <a:ext uri="{FF2B5EF4-FFF2-40B4-BE49-F238E27FC236}">
                <a16:creationId xmlns:a16="http://schemas.microsoft.com/office/drawing/2014/main" id="{BC7A1BEA-3935-4DFA-AF97-F0B3B422A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537" y="4025720"/>
            <a:ext cx="4348654" cy="95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1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F931139-BB8F-3639-7C8A-307CF7A0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7EE064-79F3-0701-FCF0-33B501B4D34B}"/>
              </a:ext>
            </a:extLst>
          </p:cNvPr>
          <p:cNvSpPr txBox="1"/>
          <p:nvPr/>
        </p:nvSpPr>
        <p:spPr>
          <a:xfrm>
            <a:off x="671330" y="417018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B. Which positions require the most qualifications?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32CDA-FFEA-924D-48FD-527350A3E955}"/>
              </a:ext>
            </a:extLst>
          </p:cNvPr>
          <p:cNvSpPr txBox="1"/>
          <p:nvPr/>
        </p:nvSpPr>
        <p:spPr>
          <a:xfrm>
            <a:off x="7203208" y="417017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31DA1D-2AE8-27E5-6CDA-36C6558AC1BC}"/>
              </a:ext>
            </a:extLst>
          </p:cNvPr>
          <p:cNvSpPr txBox="1"/>
          <p:nvPr/>
        </p:nvSpPr>
        <p:spPr>
          <a:xfrm>
            <a:off x="671331" y="3412849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C. Which employees have the highest number of qualifications?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74386-E48D-6E33-F3A3-8A63028B6B7D}"/>
              </a:ext>
            </a:extLst>
          </p:cNvPr>
          <p:cNvSpPr txBox="1"/>
          <p:nvPr/>
        </p:nvSpPr>
        <p:spPr>
          <a:xfrm>
            <a:off x="7075886" y="3429000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B06CC8-0F3F-DF4B-7F1A-1D55A94F1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84" y="985080"/>
            <a:ext cx="5481489" cy="178126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0CF902-F408-1B6C-CBA1-D8CBAF0A1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792" y="772827"/>
            <a:ext cx="2385267" cy="2339543"/>
          </a:xfrm>
          <a:prstGeom prst="rect">
            <a:avLst/>
          </a:prstGeom>
        </p:spPr>
      </p:pic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3250E3F-5CD2-B97F-4014-55F615C6F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446" y="3858275"/>
            <a:ext cx="4868031" cy="2790425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51704C-9C6A-39B1-D8E5-573EE81C76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792" y="3858267"/>
            <a:ext cx="2769037" cy="222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13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108DD72-1417-EFB3-6C9F-AE323CEC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54F832-4259-0A38-DC80-DFE22AF2E4C2}"/>
              </a:ext>
            </a:extLst>
          </p:cNvPr>
          <p:cNvSpPr txBox="1"/>
          <p:nvPr/>
        </p:nvSpPr>
        <p:spPr>
          <a:xfrm>
            <a:off x="266218" y="247057"/>
            <a:ext cx="4409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  </a:t>
            </a:r>
            <a:r>
              <a:rPr lang="en-US" sz="1600" b="1" dirty="0"/>
              <a:t>4. LEAVE AND ABSENCE PATTERNS </a:t>
            </a:r>
            <a:endParaRPr lang="en-IN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59BA9-CAC9-2FC6-18A6-776F06B452FD}"/>
              </a:ext>
            </a:extLst>
          </p:cNvPr>
          <p:cNvSpPr txBox="1"/>
          <p:nvPr/>
        </p:nvSpPr>
        <p:spPr>
          <a:xfrm>
            <a:off x="671331" y="697783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Which year had the most employees taking leaves?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F94F08-1FE2-B1CC-0D65-B34444000C82}"/>
              </a:ext>
            </a:extLst>
          </p:cNvPr>
          <p:cNvSpPr txBox="1"/>
          <p:nvPr/>
        </p:nvSpPr>
        <p:spPr>
          <a:xfrm>
            <a:off x="7075885" y="697783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31AD8C-4DA1-6B4C-0D67-C1ED6A8A1C50}"/>
              </a:ext>
            </a:extLst>
          </p:cNvPr>
          <p:cNvSpPr txBox="1"/>
          <p:nvPr/>
        </p:nvSpPr>
        <p:spPr>
          <a:xfrm>
            <a:off x="671331" y="3305126"/>
            <a:ext cx="5602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B. What is the average number of leave days taken by its employees per department?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01C2DF-3C69-1A28-5753-67708EB00627}"/>
              </a:ext>
            </a:extLst>
          </p:cNvPr>
          <p:cNvSpPr txBox="1"/>
          <p:nvPr/>
        </p:nvSpPr>
        <p:spPr>
          <a:xfrm>
            <a:off x="7075886" y="3412848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BAE1BE-D7EF-3090-AE04-030490A6C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65" y="1251888"/>
            <a:ext cx="4619392" cy="172280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7E774A-793F-DE2B-9BF6-386E8C1D9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469" y="1251887"/>
            <a:ext cx="3634069" cy="1109347"/>
          </a:xfrm>
          <a:prstGeom prst="rect">
            <a:avLst/>
          </a:prstGeom>
        </p:spPr>
      </p:pic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2A1AA4C-557E-1EC2-803A-044C21B0D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792" y="3913972"/>
            <a:ext cx="4435224" cy="2720576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6B6FA3-825C-E54C-9050-6F27ED5773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1469" y="3913972"/>
            <a:ext cx="3305739" cy="22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99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FEA67EC-9F8B-3ABB-41C3-86BAC5EC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1EF6C8-A0B0-2972-67C6-B56359A876FB}"/>
              </a:ext>
            </a:extLst>
          </p:cNvPr>
          <p:cNvSpPr txBox="1"/>
          <p:nvPr/>
        </p:nvSpPr>
        <p:spPr>
          <a:xfrm>
            <a:off x="671330" y="417018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C. Which employees have taken the most leaves? 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70AD0B-AF02-DD49-AEF8-A20060005736}"/>
              </a:ext>
            </a:extLst>
          </p:cNvPr>
          <p:cNvSpPr txBox="1"/>
          <p:nvPr/>
        </p:nvSpPr>
        <p:spPr>
          <a:xfrm>
            <a:off x="7203208" y="417017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BB834B-29A4-9E87-1379-51A18DABF055}"/>
              </a:ext>
            </a:extLst>
          </p:cNvPr>
          <p:cNvSpPr txBox="1"/>
          <p:nvPr/>
        </p:nvSpPr>
        <p:spPr>
          <a:xfrm>
            <a:off x="671331" y="3412849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D. What is the total number of leave days taken company-wide?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854A13-94AE-481F-C67D-23C09496FC16}"/>
              </a:ext>
            </a:extLst>
          </p:cNvPr>
          <p:cNvSpPr txBox="1"/>
          <p:nvPr/>
        </p:nvSpPr>
        <p:spPr>
          <a:xfrm>
            <a:off x="7075886" y="3429000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C51E82B-AE95-2F3E-DD2B-CDD579B96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94" y="893346"/>
            <a:ext cx="5188501" cy="194245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513918-2734-6ADC-9675-3AB58A756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470" y="851023"/>
            <a:ext cx="2299608" cy="221629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CFF938-15C1-5F11-9D01-4EA320669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394" y="4022204"/>
            <a:ext cx="5377208" cy="1707264"/>
          </a:xfrm>
          <a:prstGeom prst="rect">
            <a:avLst/>
          </a:prstGeom>
        </p:spPr>
      </p:pic>
      <p:pic>
        <p:nvPicPr>
          <p:cNvPr id="16" name="Picture 15" descr="A computer screen shot of a person's face&#10;&#10;AI-generated content may be incorrect.">
            <a:extLst>
              <a:ext uri="{FF2B5EF4-FFF2-40B4-BE49-F238E27FC236}">
                <a16:creationId xmlns:a16="http://schemas.microsoft.com/office/drawing/2014/main" id="{BBE74E42-0AFD-1BEC-3B3D-35F32F99B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1470" y="4022204"/>
            <a:ext cx="3621844" cy="139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769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6FC63FF-EA2B-D3D3-0D92-B235DF549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E1D47-71B8-2988-FF82-82EE70B28EEC}"/>
              </a:ext>
            </a:extLst>
          </p:cNvPr>
          <p:cNvSpPr txBox="1"/>
          <p:nvPr/>
        </p:nvSpPr>
        <p:spPr>
          <a:xfrm>
            <a:off x="671330" y="109242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E. How do leave days correlate with payroll amounts? 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2A29C8-3D70-E826-3885-56EA98CCBA17}"/>
              </a:ext>
            </a:extLst>
          </p:cNvPr>
          <p:cNvSpPr txBox="1"/>
          <p:nvPr/>
        </p:nvSpPr>
        <p:spPr>
          <a:xfrm>
            <a:off x="7075886" y="109241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5BC998-5E47-91B0-4C51-F8CB525B891C}"/>
              </a:ext>
            </a:extLst>
          </p:cNvPr>
          <p:cNvSpPr txBox="1"/>
          <p:nvPr/>
        </p:nvSpPr>
        <p:spPr>
          <a:xfrm>
            <a:off x="798651" y="3674970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What is the total monthly payroll processed? 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7088A8-5095-3532-B1FE-10D9FDAD46FB}"/>
              </a:ext>
            </a:extLst>
          </p:cNvPr>
          <p:cNvSpPr txBox="1"/>
          <p:nvPr/>
        </p:nvSpPr>
        <p:spPr>
          <a:xfrm>
            <a:off x="7075886" y="3674970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BCEBC-EB75-B039-D67C-2C2273683A5C}"/>
              </a:ext>
            </a:extLst>
          </p:cNvPr>
          <p:cNvSpPr txBox="1"/>
          <p:nvPr/>
        </p:nvSpPr>
        <p:spPr>
          <a:xfrm>
            <a:off x="393644" y="3197916"/>
            <a:ext cx="4722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5. PAYROLL AND COMPENSATION ANALYSIS</a:t>
            </a:r>
            <a:endParaRPr lang="en-IN" sz="1600" b="1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16AFFDC-8AE3-A5DD-9B22-13C1F0E9D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991" y="417018"/>
            <a:ext cx="3513124" cy="2530059"/>
          </a:xfrm>
          <a:prstGeom prst="rect">
            <a:avLst/>
          </a:prstGeom>
        </p:spPr>
      </p:pic>
      <p:pic>
        <p:nvPicPr>
          <p:cNvPr id="7" name="Picture 6" descr="A screenshot of a data&#10;&#10;AI-generated content may be incorrect.">
            <a:extLst>
              <a:ext uri="{FF2B5EF4-FFF2-40B4-BE49-F238E27FC236}">
                <a16:creationId xmlns:a16="http://schemas.microsoft.com/office/drawing/2014/main" id="{54510DC7-5CA3-4078-3AC9-7446EA0A2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211" y="417017"/>
            <a:ext cx="3534502" cy="2530059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6D36AE-BEA1-417F-005D-52514ABBD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1151" y="4151503"/>
            <a:ext cx="4161328" cy="2053525"/>
          </a:xfrm>
          <a:prstGeom prst="rect">
            <a:avLst/>
          </a:prstGeom>
        </p:spPr>
      </p:pic>
      <p:pic>
        <p:nvPicPr>
          <p:cNvPr id="16" name="Picture 15" descr="A close up of numbers&#10;&#10;AI-generated content may be incorrect.">
            <a:extLst>
              <a:ext uri="{FF2B5EF4-FFF2-40B4-BE49-F238E27FC236}">
                <a16:creationId xmlns:a16="http://schemas.microsoft.com/office/drawing/2014/main" id="{F57A4C01-1B61-82D7-88ED-03194C7EF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528" y="4151503"/>
            <a:ext cx="4866498" cy="91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03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C20F1BF-8EC8-810F-7B23-6C2A9290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11E88C-91B7-D5E0-47BE-C5FA70A1F1C1}"/>
              </a:ext>
            </a:extLst>
          </p:cNvPr>
          <p:cNvSpPr txBox="1"/>
          <p:nvPr/>
        </p:nvSpPr>
        <p:spPr>
          <a:xfrm>
            <a:off x="671330" y="417018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B. What is the average bonus given per department? 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A4260C-874C-86FB-9FB3-2EE237A77682}"/>
              </a:ext>
            </a:extLst>
          </p:cNvPr>
          <p:cNvSpPr txBox="1"/>
          <p:nvPr/>
        </p:nvSpPr>
        <p:spPr>
          <a:xfrm>
            <a:off x="7203208" y="417017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C81972-8CC1-3E1F-2194-1536B8D82540}"/>
              </a:ext>
            </a:extLst>
          </p:cNvPr>
          <p:cNvSpPr txBox="1"/>
          <p:nvPr/>
        </p:nvSpPr>
        <p:spPr>
          <a:xfrm>
            <a:off x="671331" y="3412849"/>
            <a:ext cx="5602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C. Which department receives the highest total bonuses?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28EA42-E1C7-7A51-4416-19303738E627}"/>
              </a:ext>
            </a:extLst>
          </p:cNvPr>
          <p:cNvSpPr txBox="1"/>
          <p:nvPr/>
        </p:nvSpPr>
        <p:spPr>
          <a:xfrm>
            <a:off x="7075886" y="3429000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107216D-6863-51C3-5167-902C72986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997" y="1062007"/>
            <a:ext cx="3934454" cy="176221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EB89AC-1C7E-7CAF-8DE9-B44332C60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186" y="1062007"/>
            <a:ext cx="2280318" cy="1943561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79A242A-51F0-0580-B039-EB8E938E7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997" y="3976165"/>
            <a:ext cx="4319300" cy="2042669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C0664F-18C3-14BC-E298-1063E71FB5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792" y="3976165"/>
            <a:ext cx="2160712" cy="204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54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7FEE7B2-55B9-690E-F138-CB8DBCA4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408DF-DA0C-A9B8-9AB8-AB915F6AFDE3}"/>
              </a:ext>
            </a:extLst>
          </p:cNvPr>
          <p:cNvSpPr txBox="1"/>
          <p:nvPr/>
        </p:nvSpPr>
        <p:spPr>
          <a:xfrm>
            <a:off x="671330" y="109242"/>
            <a:ext cx="5602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D. What is the average value of total amount after considering leave deductions?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52C74-EEE3-8647-9FC4-BDFF3C87DAAF}"/>
              </a:ext>
            </a:extLst>
          </p:cNvPr>
          <p:cNvSpPr txBox="1"/>
          <p:nvPr/>
        </p:nvSpPr>
        <p:spPr>
          <a:xfrm>
            <a:off x="7075886" y="109241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963839-C9B0-BD40-3E8A-C34F430150CF}"/>
              </a:ext>
            </a:extLst>
          </p:cNvPr>
          <p:cNvSpPr txBox="1"/>
          <p:nvPr/>
        </p:nvSpPr>
        <p:spPr>
          <a:xfrm>
            <a:off x="0" y="2438139"/>
            <a:ext cx="5602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b="1" dirty="0"/>
              <a:t>Department-wise Overall Summary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D2515B-9CA0-0340-D4E5-C6CFCE9B15E7}"/>
              </a:ext>
            </a:extLst>
          </p:cNvPr>
          <p:cNvSpPr txBox="1"/>
          <p:nvPr/>
        </p:nvSpPr>
        <p:spPr>
          <a:xfrm>
            <a:off x="7075886" y="3275110"/>
            <a:ext cx="1111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EDF6DA-0A2F-F7F0-EA30-2EF96D12C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267" y="865625"/>
            <a:ext cx="4309590" cy="1252541"/>
          </a:xfrm>
          <a:prstGeom prst="rect">
            <a:avLst/>
          </a:prstGeom>
        </p:spPr>
      </p:pic>
      <p:pic>
        <p:nvPicPr>
          <p:cNvPr id="8" name="Picture 7" descr="A close up of numbers&#10;&#10;AI-generated content may be incorrect.">
            <a:extLst>
              <a:ext uri="{FF2B5EF4-FFF2-40B4-BE49-F238E27FC236}">
                <a16:creationId xmlns:a16="http://schemas.microsoft.com/office/drawing/2014/main" id="{78E3B7FA-6A78-4EA9-830F-A4BF740F1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015" y="865625"/>
            <a:ext cx="2296639" cy="882152"/>
          </a:xfrm>
          <a:prstGeom prst="rect">
            <a:avLst/>
          </a:prstGeom>
        </p:spPr>
      </p:pic>
      <p:pic>
        <p:nvPicPr>
          <p:cNvPr id="18" name="Picture 1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5110AF6-FFD1-1278-E7BC-42C368E1B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05" y="2899261"/>
            <a:ext cx="5437439" cy="3582562"/>
          </a:xfrm>
          <a:prstGeom prst="rect">
            <a:avLst/>
          </a:prstGeom>
        </p:spPr>
      </p:pic>
      <p:pic>
        <p:nvPicPr>
          <p:cNvPr id="20" name="Picture 1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C0AB5D3-4F1B-07E5-C879-DCFCB7ACAE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679" y="3715015"/>
            <a:ext cx="5381157" cy="174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12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7A25705-66FB-0263-B649-7BF24D54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66C4075D-D67E-D837-ADCE-4C379AB2B467}"/>
              </a:ext>
            </a:extLst>
          </p:cNvPr>
          <p:cNvSpPr txBox="1"/>
          <p:nvPr/>
        </p:nvSpPr>
        <p:spPr>
          <a:xfrm>
            <a:off x="335188" y="416553"/>
            <a:ext cx="924435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000" b="1" dirty="0"/>
              <a:t>Key Findings &amp; Business Insights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: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F805C-CB31-11CD-C825-F0198D7148F8}"/>
              </a:ext>
            </a:extLst>
          </p:cNvPr>
          <p:cNvSpPr txBox="1"/>
          <p:nvPr/>
        </p:nvSpPr>
        <p:spPr>
          <a:xfrm>
            <a:off x="432079" y="1218521"/>
            <a:ext cx="9244356" cy="4293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Identified departments with the </a:t>
            </a:r>
            <a:r>
              <a:rPr lang="en-US" sz="1600" b="1" dirty="0"/>
              <a:t>highest number of employees</a:t>
            </a:r>
            <a:r>
              <a:rPr lang="en-US" sz="1600" dirty="0"/>
              <a:t> and salary expenditure.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Determined </a:t>
            </a:r>
            <a:r>
              <a:rPr lang="en-US" sz="1600" b="1" dirty="0"/>
              <a:t>top-paid employees</a:t>
            </a:r>
            <a:r>
              <a:rPr lang="en-US" sz="1600" dirty="0"/>
              <a:t> and high-paying job roles.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Analyzed </a:t>
            </a:r>
            <a:r>
              <a:rPr lang="en-US" sz="1600" b="1" dirty="0"/>
              <a:t>leave patterns</a:t>
            </a:r>
            <a:r>
              <a:rPr lang="en-US" sz="1600" dirty="0"/>
              <a:t>: employees taking most leaves and yearly trends.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Evaluated </a:t>
            </a:r>
            <a:r>
              <a:rPr lang="en-US" sz="1600" b="1" dirty="0"/>
              <a:t>average salary and bonuses per department</a:t>
            </a:r>
            <a:r>
              <a:rPr lang="en-US" sz="1600" dirty="0"/>
              <a:t> for budget planning.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Observed </a:t>
            </a:r>
            <a:r>
              <a:rPr lang="en-US" sz="1600" b="1" dirty="0"/>
              <a:t>qualification distribution</a:t>
            </a:r>
            <a:r>
              <a:rPr lang="en-US" sz="1600" dirty="0"/>
              <a:t> and positions requiring more skills.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600" dirty="0"/>
              <a:t>Insights help </a:t>
            </a:r>
            <a:r>
              <a:rPr lang="en-US" sz="1600" b="1" dirty="0"/>
              <a:t>HR and management</a:t>
            </a:r>
            <a:r>
              <a:rPr lang="en-US" sz="1600" dirty="0"/>
              <a:t> make informed decisions on payroll, recruitment, and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365342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4EDEC6E-883F-177E-71BB-86CFD40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1CADADB7-FA2E-CFF6-B32A-437B99DEB35E}"/>
              </a:ext>
            </a:extLst>
          </p:cNvPr>
          <p:cNvSpPr txBox="1"/>
          <p:nvPr/>
        </p:nvSpPr>
        <p:spPr>
          <a:xfrm>
            <a:off x="335188" y="520725"/>
            <a:ext cx="934124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b="1" dirty="0"/>
              <a:t>Conclusion – Overall Key Findings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: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EAF197-4DE4-0E0C-0C30-678973CF9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68" y="1227412"/>
            <a:ext cx="8738885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Payroll, leave, and department analyses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HR and management.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Departments with high salary expenditure and employees with frequent leaves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clearly identified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Employee Management System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and accurate employee data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Qualification and job role analysis helps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 workforce planning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SQL-based analysis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reporting, decision-making, and resource optimization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system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streamlines HR operations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improves organizational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130377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409E72-1B32-6BB2-1819-33354AD9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A543982A-9486-38E5-E35E-139EF861CFB2}"/>
              </a:ext>
            </a:extLst>
          </p:cNvPr>
          <p:cNvSpPr txBox="1"/>
          <p:nvPr/>
        </p:nvSpPr>
        <p:spPr>
          <a:xfrm>
            <a:off x="335188" y="520725"/>
            <a:ext cx="934124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b="1" dirty="0"/>
              <a:t>Experience &amp; Challenges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:</a:t>
            </a:r>
            <a:endParaRPr sz="4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C6F76-E3D6-B608-262F-A47EFC0BE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61" y="1236359"/>
            <a:ext cx="9341247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experience with MySQL Workbench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creating tables, foreign keys, and constraints.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data integrity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cascading updates and deletes.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expertise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 complex SQL queries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multi-table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proper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formats, unique constraints, and data consistency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tables.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faced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managing foreign key dependencies, handling large datasets, and joining multiple tables for insightful reports.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practical SQL skills and data analysis capabilities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41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4465642" cy="1181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YOU</a:t>
            </a:r>
            <a:endParaRPr sz="4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778</Words>
  <Application>Microsoft Office PowerPoint</Application>
  <PresentationFormat>Widescreen</PresentationFormat>
  <Paragraphs>100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Presented By: Mohammed Ashwaq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Ashwaq Mohammed</cp:lastModifiedBy>
  <cp:revision>12</cp:revision>
  <dcterms:created xsi:type="dcterms:W3CDTF">2021-02-16T05:19:01Z</dcterms:created>
  <dcterms:modified xsi:type="dcterms:W3CDTF">2025-12-25T13:10:26Z</dcterms:modified>
</cp:coreProperties>
</file>